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各位老師、學長姊們大家好，今天大概有 45 分鐘的時間，要跟大家聊一個我覺得非常重要、可是在臨床上常常被當作冷知識的主題：愛滋的暴露前預防，PrEP，跟暴露後預防，PEP。今天我想用比較輕鬆的方式跟大家分享，因為我相信，個管師、基層診所醫師、護理同仁其實是把這兩個工具帶到第一線最關鍵的角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我們大概會分成六個段落。先談一下為什麼第一線醫護同仁需要懂這個，再進到 PrEP、PEP 各自的細節，然後一定要花時間講我們在臨床、在社區實務上能做什麼，最後看看國際在 2024、2025 年走到哪裡，台灣下一步可以怎麼跟上。中間隨時可以打斷我提問。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投影片我想先說一個觀念：愛滋現在已經不是當年那個不治之症了，它是一個可以預防、可以控制的慢性傳染病。但是我們的個案還是會碰到歧視、還是會碰到不知道去哪裡找資源的問題。當第一線的個管師、診所醫師、護理人員不熟 PrEP 跟 PEP 的時候，個案就接不到這個保護網。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這兩個數字大家先記一下：全世界 2024 年大概還有 130 萬人新診斷愛滋；台灣的話，因為治療即預防、PrEP 推得早，新診斷人數從 2018 年開始連續五年下降，2022 年降到 1069 人。這是一個全球都很羨慕的曲線，但是我們不能停。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現在世界衛生組織提的策略叫做 combination prevention，組合式預防。它的意思是：保險套、PrEP、PEP、治療即預防、減害計畫，這幾件事要綁在一起做。單靠任何一件都不夠。今天我們聚焦在 PrEP 跟 PEP 這兩塊，但腦袋裡要記得它們不是孤立的。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簡單一張表先讓大家有概念：篩檢是早發現，PrEP 是事前防範，PEP 是事後補救，這三件事是連續的。大家想像它是一條防線，從事前到事後都有著力點。等一下我們會逐一展開。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 等於 U，undetectable equals untransmittable，是這十年來改變整個愛滋防治的一句話。意思是，當感染者規律服藥、病毒量測不到的時候，他不會把病毒傳給性伴侶。這個科學共識也是 PrEP、PEP 政策能往前推的基礎。95-95-95 是聯合國的目標，三個 95 都做到，疫情就會自然消退。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PrEP 是給沒有感染、但暴露風險偏高的人，提前服用抗病毒藥，預防感染。它不是疫苗、不是治療，重點是「先吃、定期吃、定期追蹤」。如果你只記一句話：PrEP 是降低感染風險的「保險」，但這個保險要每天或每次續保，才有效。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台灣其實是亞洲第一個由政府主動推 PrEP、而且補助部分藥費的國家。從 2016 年的前驅計畫五家醫院開始，到 2025 年公費點增加到 114 家，自費的還有 125 家。這代表大家在轉介個案的時候，每個縣市都找得到資源。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去年（2025）4 月剛更新的第三版指引有三個重點：一個是把名稱從口服改成不分劑型；第二是新增注射型跟陰道環的局部 PrEP；第三是更新各族群的證據等級跟交互作用。等一下我會把幾個族群挑出來講。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現在 PrEP 有四種劑型可以選擇：每天口服、依需求口服（事件導向）、每兩個月打一針的長效 cabotegravir、跟每月置入的 dapivirine 陰道環。台灣目前最普及的還是每天口服，後面三種要看醫療院所是否有引進。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重點是不同族群的證據強度不一樣。男男間性行為者的證據最強，所有四種劑型都有強烈建議；異性戀女性比較複雜，注射型是強烈建議，但口服只是弱建議。這個表大家拍下來會比較清楚。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iPrEx 是 PrEP 的第一個大型隨機雙盲對照試驗，2010 年發表在 NEJM。2,499 位 MSM 與跨性別女性，分布六國，每日 TDF/FTC vs 安慰劑。整體相對風險下降 44%。為什麼這麼低？因為 TDF/FTC 組裡只有大約一半的人血中測得到藥；換句話說有將近一半其實沒在吃。2014 年 iPrEx-OLE 把同一群人按藥物濃度（也就是順從性）分層分析，結果非常清楚：每週吃不到兩劑保護力幾乎是零，每週 2-3 劑保護力跳到 84%，每週四劑以上就達到 95%，每天吃接近 100%。這張圖是我們講「PrEP 的藥效不是問題、順從性才是問題」最有力的證據。也是 FDA 在 2012 年核准 Truvada 為第一個 PrEP 藥物的依據。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iPERGAY 是 2015 年發表在 NEJM 的法國 / 加拿大雙盲對照試驗，400 位 MSM。他們不是每天吃，而是用「2-1-1」事件導向：性行為前 2 到 24 小時吃 2 顆，事件後 24 小時 1 顆，48 小時再 1 顆。結果相對風險下降 86%。這個試驗就是「依需求 PrEP」被正式寫進指引的科學依據。台灣指引第三版裡，事件導向 PrEP 對 MSM 跟異性戀順性別男性都是強烈建議。但記得，事件導向不適用於女性，因為陰道組織的藥物濃度上升比較慢。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事件導向 PrEP 的兩種臨床情境。單次性行為用 2-1-1：性行為前 2–24 小時先吃 2 顆 TDF/FTC，之後 24、48 小時各吃 1 顆，總共 4 顆。連續多次性行為的話，2 顆起頭之後每 24 小時補 1 顆，最後一次性行為後再吃 2 顆收尾。一定要跟餐一起吃，這對 TDF/FTC 的吸收很重要。台灣指引目前只把事件導向列在 MSM 與順性別異性戀男性，女性與跨性別族群因為陰道組織藥物濃度不穩定，仍建議每日口服。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PROUD 是 2016 年 Lancet 發表的英國開放標記試驗，在 13 家性健康診所收 544 位 MSM。一半立即拿 PrEP、一半延後一年，結果立即組只有 3 例感染、延後組 20 例，相對風險下降 86%，因效果太明顯試驗提前解盲。重點不在藥效本身——那已經被 iPrEx 證明——而是在「真實診間」的順從性下 PrEP 仍然有效，回應了當時很多人擔心的「現實中 MSM 會記得吃嗎」的問題。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HPTN 083 是 2021 年發表在 NEJM。重點是這個試驗的對照組不是安慰劑，而是「每日口服 TDF/FTC」——也就是現有最佳療法。4,566 位順性別 MSM 跟跨性別女性，比較 CAB-LA 每 8 週肌注 vs 每日 TDF/FTC。風險比 HR 0.34，HIV 發生率減少 66%。看圖中右邊的森林圖，所有次族群——年齡、種族、地區——都偏向 CAB-LA。因為效果太顯著，研究在期中分析就提前解盲。這是第一個證明長效針劑優於每日口服的試驗。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HPTN 084 在 2022 年 Lancet 發表，3,224 位非洲撒哈拉以南順性別女性，CAB-LA vs 每日 TDF/FTC。結果更驚人，HIV 發生率減少 88%——CAB-LA 組只有 4 例新感染，TDF/FTC 組有 36 例。同樣因效果顯著提前中止。這個試驗特別重要的地方是：過去口服 PrEP 在女性的研究（FEM-PrEP、VOICE）效果都不好，問題就出在順從性。HPTN 084 用長效針劑直接繞過順從性問題，等於補上了女性 PrEP 最後一塊拼圖。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最新一代是 lenacapavir，HIV capsid 抑制劑，皮下注射每半年一次。兩個 PURPOSE 試驗 2024 年發表在 NEJM。PURPOSE-1 收 5,338 位非洲順性別女性與青少女，LEN 組 0 例感染，相對於背景發生率 IRR 0.00；對照組的口服 F/TAF 跟 F/TDF 都沒有看到顯著保護，再次顯示口服在這個族群的順從性是大問題。PURPOSE-2 收 3,265 位 MSM、TGW、跨性別男性、性別多元者，LEN 0.10 vs F/TDF 0.93 / 100 人年，IRR 0.11。美國 FDA 在 2025 年 6 月核准、商品名 Yeztugo，WHO 同年 7 月建議納入。台灣目前還沒有引進，這是我們公衛社群下一階段要關注的議題。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可是這些數字背後有個關鍵字：順從性。每週吃不到兩次的人保護力只剩 44%，吃滿四次以上才有 95%。所以 PrEP 不只是發藥的工作，是衛教、追蹤、提醒、支持的工作。這正是第一線醫護同仁（個管師、基層診所、公衛護理）可以發揮專業的地方。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開始 PrEP 之前要做四件事：HIV 篩檢確認沒感染、評估風險、了解過去病史（特別是腎、骨、B 肝）、然後跟個案討論他想用哪種劑型。每一步都需要溝通，而不是只是填單子。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起始前的實驗室一覽：HIV 抗原抗體、HBV、HCV、梅毒、淋病披衣菌、肌酐酸（特別重要因為 TDF 對腎不友善）、肝功能、懷孕測試。這個 list 在指引附錄裡都有，建議護理同仁印一份貼在診間。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口服 PrEP 的追蹤時程依台灣指引：服藥第 1 個月、第 3 個月各回診一次，追 HIV、肌酐酸、尿液分析、懷孕、RPR，其他性病依症狀加做。穩定之後每 3 個月追 HIV、懷孕、RPR；每 6 個月加肌酐酸跟尿液分析；每 1 年追 HBsAg 跟 HCV 抗體。長效針劑的話，每次回診打針就追 HIV 抗原抗體加性病、懷孕，因為注射劑型如果突破比較容易產生抗藥性。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副作用這邊要特別講三件事：腎、骨頭、跟 B 肝。TDF 會傷腎，肌酐酸廓清率小於 60 不能用；TAF 比較安心，30 以上都還可以。骨密度會掉一點點，但停藥會回來。B 肝的人不能隨便停 PrEP，因為 TDF/TAF 都會壓 B 肝病毒，亂停會引起急性發作。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什麼時候可以停 PrEP：個案不再有暴露風險、要懷孕、嚴重副作用、或是新診斷感染。停的時候 B 肝帶原者要延長追蹤肝功能。新診斷感染要立刻轉感染科處理抗藥性問題。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如果在用 PrEP 期間發生 HIV 感染，第一個動作是停藥、抽病毒量、做抗藥性檢測。為什麼重要？因為單純兩種藥的暴露下感染，很容易產生 M184V 這種對 FTC 的抗藥性，後續治療要避開這個藥。這也是為什麼指引強調定期追蹤的原因。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好，PrEP 講完換 PEP。PEP 的英文是 post-exposure prophylaxis，分職業暴露 oPEP 跟非職業暴露 nPEP。職業暴露最常見就是針扎，非職業暴露最常見是無套性行為跟性侵害。兩種的處方原則是一樣的，只是進入點不一樣。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PEP 最重要的觀念叫做黃金 72 小時。動物實驗顯示，超過 72 小時開始預防，效果會掉得很快。理想是暴露後幾個小時內就開始，越快越好。所以當有人來求助，你的第一句話不是「先抽血」，是「現在幾點？暴露幾小時了？」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什麼算「暴露」：經皮刺傷、黏膜接觸、破損皮膚接觸到血液或具感染性體液。具感染性的體液包括精液、陰道分泌物、腦脊髓液、滑囊液、胸水、腹水、羊水。糞便、唾液、汗水、尿、嘔吐物如果沒有肉眼可見的血，是不具感染性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感染風險的數字大家先有個概念：針扎大約是 0.23%，黏膜噴濺大約是 0.09%。聽起來不高，可是針扎件數一年累積起來不少。深扎、明顯帶血、針剛從患者血管拔出來，風險會更高。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來源者的評估很關鍵。第一步是抽快篩，最好用第四代抗原抗體，空窗期只有兩週。如果來源確定是陰性，就可以停止 PEP；如果來源在用 PrEP 卻新診斷感染，要警覺有抗藥性，處方要選有抗藥屏障的方案。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2025 年指引最重要的更新是處方。優先建議現在是 TAF/FTC/BIC 單錠複方，一天一顆，副作用少、好吞、交互作用少。替代方案是 TDF/FTC 加 DTG，或是 TAF/FTC/DRV/c。第三個方案是給疑似抗藥性來源用的。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PEP 是 28 天療程。追蹤時程也更新了：以前是追蹤六個月，現在用第四代檢驗，只要追到 12 週就夠了。WHO、英國、美國 CDC 在 2022 年之後都統一這個做法，不再延長到 9 或 12 個月。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非職業 PEP 的適用情境：無套性行為、共用針具、性侵害、輸血意外、被棄置的針扎到等等。原則跟職業暴露一樣，但是要特別考慮：避孕、性病篩檢、B 肝疫苗，還有一個很重要的——後續銜接 PrEP。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決策的關鍵是「值不值得吃」。如果來源是已知感染者且病毒量壓制良好，依 U=U 原則，原則上不需要 PEP；如果來源不明但暴露行為高風險，就在 72 小時內給藥再說。記住一個原則：不確定的時候，先給藥，後續再決定要不要停。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對於反覆暴露的個案，吃 PEP 不是長久之計，要立刻銜接 PrEP。指引明文寫：吃完 28 天 PEP 直接接 PrEP，中間不要斷。這個 PEP-to-PrEP 的銜接是減少新感染最重要的一個環節，也是公衛護士可以主動介入的時刻。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這是台灣目前的處理流程：發生暴露先擠壓沖洗、評估、抽血、判斷需不需要給 PEP、開始 28 天療程、4-6 週與 12 週追蹤血清。職業暴露有指定醫事機構，1922 還有針扎專線可以諮詢。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，前面講完疾病跟藥，現在我想花一點時間講我們自己。在所有這個流程裡面，個管師、基層診所醫師、公衛護理人員其實是扮演「把人帶進系統」的角色——個案找你不是因為你開藥，是因為你聽得懂他在害怕什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我會建議大家用四個對話框架：第一是去汙名（這不是道德問題）、第二是 U=U（科學事實）、第三是減害（給選項不是給命令）、第四是支持（你不是一個人）。這四件事每次諮商都用得上。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通報的部分大家可能比較熟，我快速帶過：HIV 是第三類法定傳染病，職業暴露針扎需另外通報疾管署的職業暴露通報單，請款也是這個系統。保密原則：個案資料外流是大事，連對家屬都不能未經同意揭露。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PrEP 跟 PEP 不是感染科一個科的事。我們需要的是一個接力賽：第一線醫護處理急性暴露 → 個管師與護理人員做諮商與追蹤 → 感染科或愛滋指定機構接後續 → 民間團體做 community outreach。每一棒交接得好，個案才不會掉出系統。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現在來看國際前沿。最重要的就是 lenacapavir，去年 6 月美國 FDA 核准、商品名 Yeztugo。它是每半年皮下注射一次。PURPOSE-1、PURPOSE-2 試驗在女性跟 MSM 都看到接近 100% 的保護力。WHO 在 2025 年 7 月已經建議納入。台灣目前還沒有，但很值得我們關注。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Cabotegravir 長效針劑兩個月一次，台灣指引早就寫進去了，可是實務上引進的院所還很少。原因是費用、儲存、注射技術。這就是政策跟落地之間的落差，是公衛系統可以著力的地方。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另一個新工具是 DoxyPEP — 性行為後 72 小時內吃一顆 doxycycline 200mg，預防梅毒、披衣菌、淋病等細菌性性病。美國 CDC 2024 年已經出指引；台灣其實已經有醫師在實務上使用，2025 年版的梅毒淋病指引也已納入相關建議，下一步是統一適應症跟監測抗藥性。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未來方向：自主篩檢的家用試劑、遠距開立 PrEP、行動車到偏鄉、跨性別社群的 community-led 服務。這些東西不是科幻，是已經在歐美在落地。台灣的腳步可以更快。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WHO 2024 年出了統合指引，三個重點：把事件導向 PrEP 推給所有 MSM、納入長效注射劑、加強反汙名與性別友善服務。這個方向跟我們台灣指引大致一致，可是 implementation 的速度差距還在。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jpg"/><Relationship Id="rId4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40080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77780"/>
                </a:solidFill>
              </a:rPr>
              <a:t>01 / 50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A1A22"/>
                </a:solidFill>
              </a:rPr>
              <a:t>01 封面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47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PrEP 與 PEP 在第一線的角色 —— 從指引、實務到國際前沿The Next Mile of HIV Prevention · PrEP &amp; PEP for Public Health Nurses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40080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77780"/>
                </a:solidFill>
              </a:rPr>
              <a:t>02 / 50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C84033"/>
                </a:solidFill>
              </a:rPr>
              <a:t>議程 ·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A1A22"/>
                </a:solidFill>
              </a:rPr>
              <a:t>六個段落 · 一個共同的目標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47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1A1A22"/>
                </a:solidFill>
              </a:rPr>
              <a:t>為什麼這場演講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1A1A22"/>
                </a:solidFill>
              </a:rPr>
              <a:t>PrEP 暴露前預防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1A1A22"/>
                </a:solidFill>
              </a:rPr>
              <a:t>PEP 暴露後預防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1A1A22"/>
                </a:solidFill>
              </a:rPr>
              <a:t>公衛護士的位置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1A1A22"/>
                </a:solidFill>
              </a:rPr>
              <a:t>國際前沿 vs 台灣現況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1A1A22"/>
                </a:solidFill>
              </a:rPr>
              <a:t>回去就能做的事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台灣疫情座標、公衛護士的角色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劑型、族群、追蹤、安全性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職業 vs 非職業、72 小時、處方更新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諮商、轉介、保密、跨領域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Lenacapavir、DoxyPEP、長效針劑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三個行動、一張資源清單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40080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77780"/>
                </a:solidFill>
              </a:rPr>
              <a:t>03 / 50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C84033"/>
                </a:solidFill>
              </a:rPr>
              <a:t>引言 · Why this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A1A22"/>
                </a:solidFill>
              </a:rPr>
              <a:t>愛滋現在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47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個案找到我們，不是為了拿藥。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40080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77780"/>
                </a:solidFill>
              </a:rPr>
              <a:t>04 / 50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C84033"/>
                </a:solidFill>
              </a:rPr>
              <a:t>流行病學 · Epidemiology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A1A22"/>
                </a:solidFill>
              </a:rPr>
              <a:t>全球與台灣的疫情座標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47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下降的原因是「診斷即治療、治療即預防」加上 PrEP 的推展 —— 這是一個全世界都羨慕的曲線，但是疫情還在。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40080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77780"/>
                </a:solidFill>
              </a:rPr>
              <a:t>05 / 50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C84033"/>
                </a:solidFill>
              </a:rPr>
              <a:t>公衛框架 ·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A1A22"/>
                </a:solidFill>
              </a:rPr>
              <a:t>單一工具不夠 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47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1A1A22"/>
                </a:solidFill>
              </a:rPr>
              <a:t>保險套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1A1A22"/>
                </a:solidFill>
              </a:rPr>
              <a:t>PrEP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1A1A22"/>
                </a:solidFill>
              </a:rPr>
              <a:t>PEP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1A1A22"/>
                </a:solidFill>
              </a:rPr>
              <a:t>治療即預防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1A1A22"/>
                </a:solidFill>
              </a:rPr>
              <a:t>減害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物理屏障，仍然是最廣泛可得的工具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事前服藥，讓暴露不變成感染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事後 72 小時內補救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U=U：感染者規律服藥，不會傳染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針具交換、戒治、心理支持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今天我們聚焦在 02 與 03，但這五件事是綁在一起的。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40080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77780"/>
                </a:solidFill>
              </a:rPr>
              <a:t>06 / 50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C84033"/>
                </a:solidFill>
              </a:rPr>
              <a:t>時序 ·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A1A22"/>
                </a:solidFill>
              </a:rPr>
              <a:t>事前 / 事中 / 事後 · 三層防線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47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1A1A22"/>
                </a:solidFill>
              </a:rPr>
              <a:t>PrEP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1A1A22"/>
                </a:solidFill>
              </a:rPr>
              <a:t>篩檢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1A1A22"/>
                </a:solidFill>
              </a:rPr>
              <a:t>PEP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未感染 · 高暴露風險族群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早發現 · 早治療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暴露 72 小時內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40080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77780"/>
                </a:solidFill>
              </a:rPr>
              <a:t>07 / 50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C84033"/>
                </a:solidFill>
              </a:rPr>
              <a:t>科學基礎 · 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A1A22"/>
                </a:solidFill>
              </a:rPr>
              <a:t>07 U=U / 95-95-95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47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U = U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Undetectable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感染者規律服藥、病毒量測不到時，不會經由性行為傳染給伴侶。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95 ─ 95 ─ 95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UNAIDS 2030 三個 95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1A1A22"/>
                </a:solidFill>
              </a:rPr>
              <a:t>• 95% 感染者知道自己感染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1A1A22"/>
                </a:solidFill>
              </a:rPr>
              <a:t>• 95% 確診者接受抗病毒治療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1A1A22"/>
                </a:solidFill>
              </a:rPr>
              <a:t>• 95% 治療者病毒量受到抑制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40080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77780"/>
                </a:solidFill>
              </a:rPr>
              <a:t>08 / 50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A1A22"/>
                </a:solidFill>
              </a:rPr>
              <a:t>08 §PrEP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47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Pre-Exposure Prophylaxis · 把保護放在暴露之前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40080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77780"/>
                </a:solidFill>
              </a:rPr>
              <a:t>09 / 50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C84033"/>
                </a:solidFill>
              </a:rPr>
              <a:t>定義 · 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A1A22"/>
                </a:solidFill>
              </a:rPr>
              <a:t>PrEP 是什麼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47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給未感染、但暴露風險偏高的人，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不是疫苗。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1A1A22"/>
                </a:solidFill>
              </a:rPr>
              <a:t>• Pre — 暴露之「前」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1A1A22"/>
                </a:solidFill>
              </a:rPr>
              <a:t>• Exposure — 暴露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1A1A22"/>
                </a:solidFill>
              </a:rPr>
              <a:t>• Prophylaxis — 預防性投藥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40080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77780"/>
                </a:solidFill>
              </a:rPr>
              <a:t>10 / 50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C84033"/>
                </a:solidFill>
              </a:rPr>
              <a:t>政策歷程 · Policy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A1A22"/>
                </a:solidFill>
              </a:rPr>
              <a:t>台灣 PrEP 政策十年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47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1A1A22"/>
                </a:solidFill>
              </a:rPr>
              <a:t>第一版指引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1A1A22"/>
                </a:solidFill>
              </a:rPr>
              <a:t>公費前驅計畫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1A1A22"/>
                </a:solidFill>
              </a:rPr>
              <a:t>第二版指引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1A1A22"/>
                </a:solidFill>
              </a:rPr>
              <a:t>第三版指引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1A1A22"/>
                </a:solidFill>
              </a:rPr>
              <a:t>部分更新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亞洲第一個由政府主動推動 PrEP 並提供藥費補助的國家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台灣愛滋病學會發布，TFDA 同年 8 月核准 TDF/FTC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5 家醫學中心試辦，制定服務規範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擴大族群建議、依需求 PrEP 納入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新增注射型、局部型 PrEP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114 家公費 + 125 家自費醫療院所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每個縣市都找得到資源 —— 這是過去十年公衛政策最具體的成果之一。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40080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77780"/>
                </a:solidFill>
              </a:rPr>
              <a:t>11 / 50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C84033"/>
                </a:solidFill>
              </a:rPr>
              <a:t>指引更新 · v3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A1A22"/>
                </a:solidFill>
              </a:rPr>
              <a:t>第三版指引（2025/04）三個重點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47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不再只討論「口服」—— 現在涵蓋口服、注射、局部三大劑型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每族群分別給出推薦強度與證據等級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並把「PEP 銜接 PrEP」明文寫入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1A1A22"/>
                </a:solidFill>
              </a:rPr>
              <a:t>• 名稱改為「臺灣愛滋病毒暴露前預防性投藥使用指引」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1A1A22"/>
                </a:solidFill>
              </a:rPr>
              <a:t>• 新增注射型（CAB-LA）與局部型（dapivirine 陰道環）建議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1A1A22"/>
                </a:solidFill>
              </a:rPr>
              <a:t>• 更新藥物交互作用、追蹤項目、育齡婦女考量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40080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77780"/>
                </a:solidFill>
              </a:rPr>
              <a:t>12 / 50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C84033"/>
                </a:solidFill>
              </a:rPr>
              <a:t>劑型一覽 · Modalities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A1A22"/>
                </a:solidFill>
              </a:rPr>
              <a:t>PrEP 的四種劑型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40080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77780"/>
                </a:solidFill>
              </a:rPr>
              <a:t>13 / 50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C84033"/>
                </a:solidFill>
              </a:rPr>
              <a:t>族群建議 · Recommendations by population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A1A22"/>
                </a:solidFill>
              </a:rPr>
              <a:t>不是「一體適用」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47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推薦強度（強烈／弱） · 證據等級（高／中／低）。資料：台灣愛滋病學會 PrEP 指引第三版，表 1。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40080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77780"/>
                </a:solidFill>
              </a:rPr>
              <a:t>14 / 50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C84033"/>
                </a:solidFill>
              </a:rPr>
              <a:t>標誌性試驗 · iPrEx (2010) + iPrEx-OLE (2014)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A1A22"/>
                </a:solidFill>
              </a:rPr>
              <a:t>每日口服 PrEP 的「概念驗證」</a:t>
            </a:r>
          </a:p>
        </p:txBody>
      </p:sp>
      <p:pic>
        <p:nvPicPr>
          <p:cNvPr id="5" name="Picture 4" descr="tmpnml0fie4.im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389120" cy="1965960"/>
          </a:xfrm>
          <a:prstGeom prst="rect">
            <a:avLst/>
          </a:prstGeom>
        </p:spPr>
      </p:pic>
      <p:pic>
        <p:nvPicPr>
          <p:cNvPr id="6" name="Picture 5" descr="tmp5d52k7ro.im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3886200"/>
            <a:ext cx="4389120" cy="1965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828800"/>
            <a:ext cx="6400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2,499 位 MSM / TGW · 6 國 · 雙盲 RCT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整體相對風險下降 44% (P=0.005)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服藥順從性 vs HIV 發生率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每週 ≥ 4 劑 → 保護力 95%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核心訊息：藥效從來不是問題，順從性才是。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40080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77780"/>
                </a:solidFill>
              </a:rPr>
              <a:t>15 / 50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C84033"/>
                </a:solidFill>
              </a:rPr>
              <a:t>標誌性試驗 · iPERGAY (2015)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A1A22"/>
                </a:solidFill>
              </a:rPr>
              <a:t>事件導向 PrEP 的證據</a:t>
            </a:r>
          </a:p>
        </p:txBody>
      </p:sp>
      <p:pic>
        <p:nvPicPr>
          <p:cNvPr id="5" name="Picture 4" descr="tmphi2ldp5a.im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389120" cy="4023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828800"/>
            <a:ext cx="6400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1A1A22"/>
                </a:solidFill>
              </a:rPr>
              <a:t>2-1-1 用法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400 位法國 / 加拿大 MSM · 雙盲 RCT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相對風險下降 86% (95% CI 40–98)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適用對象：MSM、異性戀順性別男性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1A1A22"/>
                </a:solidFill>
              </a:rPr>
              <a:t>• 性行為前 2–24 h：2 錠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1A1A22"/>
                </a:solidFill>
              </a:rPr>
              <a:t>• 事件後 24 h：1 錠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1A1A22"/>
                </a:solidFill>
              </a:rPr>
              <a:t>• 事件後 48 h：1 錠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40080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77780"/>
                </a:solidFill>
              </a:rPr>
              <a:t>16 / 50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C84033"/>
                </a:solidFill>
              </a:rPr>
              <a:t>事件導向 PrEP · 實務用法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A1A22"/>
                </a:solidFill>
              </a:rPr>
              <a:t>怎麼吃才對</a:t>
            </a:r>
          </a:p>
        </p:txBody>
      </p:sp>
      <p:pic>
        <p:nvPicPr>
          <p:cNvPr id="5" name="Picture 4" descr="tmph77ryd71.im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389120" cy="1965960"/>
          </a:xfrm>
          <a:prstGeom prst="rect">
            <a:avLst/>
          </a:prstGeom>
        </p:spPr>
      </p:pic>
      <p:pic>
        <p:nvPicPr>
          <p:cNvPr id="6" name="Picture 5" descr="tmp7ho0ut1x.im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3886200"/>
            <a:ext cx="4389120" cy="1965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828800"/>
            <a:ext cx="6400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1A1A22"/>
                </a:solidFill>
              </a:rPr>
              <a:t>2-1-1 標準用法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1A1A22"/>
                </a:solidFill>
              </a:rPr>
              <a:t>每 24 h 接續 1 錠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1A1A22"/>
                </a:solidFill>
              </a:rPr>
              <a:t>高頻率 → 每日 PrEP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性行為 → 改為每日 1 錠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關鍵衛教：需與用餐一起服用以提高吸收；事前若不到 2 h，效果會打折；台灣指引把事件導向列為 MSM 與順性別異性戀男性的選項，女性與跨性別族群目前不建議。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1A1A22"/>
                </a:solidFill>
              </a:rPr>
              <a:t>• 性行為前 2–24 h 服用 2 錠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1A1A22"/>
                </a:solidFill>
              </a:rPr>
              <a:t>• 第一次服藥後 24 h：1 錠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1A1A22"/>
                </a:solidFill>
              </a:rPr>
              <a:t>• 第一次服藥後 48 h：1 錠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1A1A22"/>
                </a:solidFill>
              </a:rPr>
              <a:t>• 事前 2–24 h 起頭 2 錠後，每 24 h 補 1 錠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1A1A22"/>
                </a:solidFill>
              </a:rPr>
              <a:t>• 最後一次性行為後 再吃 2 錠（24 h、48 h 各 1 錠）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1A1A22"/>
                </a:solidFill>
              </a:rPr>
              <a:t>• 用於可預期會反覆暴露的時段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1A1A22"/>
                </a:solidFill>
              </a:rPr>
              <a:t>• 事件導向需要每次預先吃 2 錠，頻繁時反而比每日更累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1A1A22"/>
                </a:solidFill>
              </a:rPr>
              <a:t>• 每日服用穩態藥物濃度，遇到突發暴露不用補錠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1A1A22"/>
                </a:solidFill>
              </a:rPr>
              <a:t>• 個案無法準確預估事件時，預設選每日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40080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77780"/>
                </a:solidFill>
              </a:rPr>
              <a:t>17 / 50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C84033"/>
                </a:solidFill>
              </a:rPr>
              <a:t>標誌性試驗 · PROUD (2016)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A1A22"/>
                </a:solidFill>
              </a:rPr>
              <a:t>真實世界的 PrEP</a:t>
            </a:r>
          </a:p>
        </p:txBody>
      </p:sp>
      <p:pic>
        <p:nvPicPr>
          <p:cNvPr id="5" name="Picture 4" descr="tmpzq24eq8d.im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389120" cy="4023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828800"/>
            <a:ext cx="6400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每條橫線為一位受試者被診斷感染前的觀察期；左為立即組 (n=3)，右為延後組 (n=20)。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英國 13 家性健康診所 · 開放標記試驗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補足 iPrEx 的雙盲試驗——日常服藥順從性下仍維持高保護力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1A1A22"/>
                </a:solidFill>
              </a:rPr>
              <a:t>• 感染：立即組 3 vs 延後組 20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1A1A22"/>
                </a:solidFill>
              </a:rPr>
              <a:t>• 相對風險下降 86% (90% CI 64–96)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1A1A22"/>
                </a:solidFill>
              </a:rPr>
              <a:t>• 因效果顯著提前解盲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1A1A22"/>
                </a:solidFill>
              </a:rPr>
              <a:t>• 證明 PrEP 在真實診間情境下有效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40080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77780"/>
                </a:solidFill>
              </a:rPr>
              <a:t>18 / 50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C84033"/>
                </a:solidFill>
              </a:rPr>
              <a:t>標誌性試驗 · HPTN 083 (2021)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A1A22"/>
                </a:solidFill>
              </a:rPr>
              <a:t>長效針劑 CAB-LA vs 每日口服</a:t>
            </a:r>
          </a:p>
        </p:txBody>
      </p:sp>
      <p:pic>
        <p:nvPicPr>
          <p:cNvPr id="5" name="Picture 4" descr="tmpeujkgboq.im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389120" cy="4023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828800"/>
            <a:ext cx="6400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4,566 位順性別 MSM 與跨性別女性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注意：對照組是每日口服而非安慰劑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1A1A22"/>
                </a:solidFill>
              </a:rPr>
              <a:t>• HR 0.34 (95% CI 0.18–0.62)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1A1A22"/>
                </a:solidFill>
              </a:rPr>
              <a:t>• HIV 發生率減少 66%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1A1A22"/>
                </a:solidFill>
              </a:rPr>
              <a:t>• 因效果顯著提前解盲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1A1A22"/>
                </a:solidFill>
              </a:rPr>
              <a:t>• 各次族群、地區一致受益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40080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77780"/>
                </a:solidFill>
              </a:rPr>
              <a:t>19 / 50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C84033"/>
                </a:solidFill>
              </a:rPr>
              <a:t>標誌性試驗 · HPTN 084 (2022)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A1A22"/>
                </a:solidFill>
              </a:rPr>
              <a:t>長效針劑 CAB-LA vs 每日口服</a:t>
            </a:r>
          </a:p>
        </p:txBody>
      </p:sp>
      <p:pic>
        <p:nvPicPr>
          <p:cNvPr id="5" name="Picture 4" descr="tmpr755l7nf.im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389120" cy="4023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828800"/>
            <a:ext cx="6400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3,224 位撒哈拉以南非洲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1A1A22"/>
                </a:solidFill>
              </a:rPr>
              <a:t>• HIV 發生率減少 88%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1A1A22"/>
                </a:solidFill>
              </a:rPr>
              <a:t>• 4 例 vs 36 例新感染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1A1A22"/>
                </a:solidFill>
              </a:rPr>
              <a:t>• 因效果顯著提前中止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1A1A22"/>
                </a:solidFill>
              </a:rPr>
              <a:t>• 修正了過往女性口服 PrEP 順從性難題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40080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77780"/>
                </a:solidFill>
              </a:rPr>
              <a:t>20 / 50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C84033"/>
                </a:solidFill>
              </a:rPr>
              <a:t>標誌性試驗 · PURPOSE-1 (2024) + PURPOSE-2 (2024)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A1A22"/>
                </a:solidFill>
              </a:rPr>
              <a:t>Lenacapavir · 每半年一針</a:t>
            </a:r>
          </a:p>
        </p:txBody>
      </p:sp>
      <p:pic>
        <p:nvPicPr>
          <p:cNvPr id="5" name="Picture 4" descr="tmp14a663l6.im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389120" cy="1965960"/>
          </a:xfrm>
          <a:prstGeom prst="rect">
            <a:avLst/>
          </a:prstGeom>
        </p:spPr>
      </p:pic>
      <p:pic>
        <p:nvPicPr>
          <p:cNvPr id="6" name="Picture 5" descr="tmpl8yvfpmm.im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3886200"/>
            <a:ext cx="4389120" cy="1965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828800"/>
            <a:ext cx="6400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5,338 位撒哈拉以南非洲順性別女性 · 青少女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LEN 組 0 例新感染 / 1,939 人年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3,265 位 MSM、TGW、跨性別男性、性別多元者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LEN 0.10 vs F/TDF 0.93 / 100 PY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美國 FDA 2025/06 核准（Yeztugo） · WHO 2025/07 建議納入；台灣尚未引進。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40080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77780"/>
                </a:solidFill>
              </a:rPr>
              <a:t>21 / 50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C84033"/>
                </a:solidFill>
              </a:rPr>
              <a:t>關鍵 · Adherence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A1A22"/>
                </a:solidFill>
              </a:rPr>
              <a:t>順從性，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47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資料：iPrEx-OLE，2014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PrEP 不只是「發藥」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這正是第一線醫護同仁（個管師、診所、護理）最能發揮的地方 —— 醫師開藥只是流程的 5%。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40080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77780"/>
                </a:solidFill>
              </a:rPr>
              <a:t>22 / 50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C84033"/>
                </a:solidFill>
              </a:rPr>
              <a:t>處方流程 ·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A1A22"/>
                </a:solidFill>
              </a:rPr>
              <a:t>開立 PrEP 之前 · 四步驟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47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1A1A22"/>
                </a:solidFill>
              </a:rPr>
              <a:t>確認未感染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1A1A22"/>
                </a:solidFill>
              </a:rPr>
              <a:t>評估風險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1A1A22"/>
                </a:solidFill>
              </a:rPr>
              <a:t>病史與檢驗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1A1A22"/>
                </a:solidFill>
              </a:rPr>
              <a:t>共同決策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第四代 HIV 抗原抗體；急性感染症狀者加做 RNA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性行為、伴侶數、保險套使用、針具共用、性病史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腎功能、骨密度、B 肝、C 肝、藥物交互作用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和個案討論劑型、頻率、追蹤計畫；簽署同意書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每一步都需要溝通 —— 不是只有填單子。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40080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77780"/>
                </a:solidFill>
              </a:rPr>
              <a:t>23 / 50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C84033"/>
                </a:solidFill>
              </a:rPr>
              <a:t>檢驗 · Baseline labs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A1A22"/>
                </a:solidFill>
              </a:rPr>
              <a:t>起始 PrEP 必驗清單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47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1A1A22"/>
                </a:solidFill>
              </a:rPr>
              <a:t>必做 · Mandatory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1A1A22"/>
                </a:solidFill>
              </a:rPr>
              <a:t>視情況 · Conditional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護理小提醒：把這份清單印一份貼在診間 —— 比口頭交代不會漏。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1A1A22"/>
                </a:solidFill>
              </a:rPr>
              <a:t>• HIV 抗原抗體（第四代）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1A1A22"/>
                </a:solidFill>
              </a:rPr>
              <a:t>• HBsAg、anti-HBs、anti-HBc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1A1A22"/>
                </a:solidFill>
              </a:rPr>
              <a:t>• HCV 抗體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1A1A22"/>
                </a:solidFill>
              </a:rPr>
              <a:t>• 梅毒 RPR / TPHA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1A1A22"/>
                </a:solidFill>
              </a:rPr>
              <a:t>• 肌酐酸與尿液分析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1A1A22"/>
                </a:solidFill>
              </a:rPr>
              <a:t>• 肝功能 AST/ALT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1A1A22"/>
                </a:solidFill>
              </a:rPr>
              <a:t>• 全血計數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1A1A22"/>
                </a:solidFill>
              </a:rPr>
              <a:t>• 育齡女性 → 懷孕測試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1A1A22"/>
                </a:solidFill>
              </a:rPr>
              <a:t>• HIV 病毒量檢測（患者有急性感染症狀或患者的抗體測試為陰性，但最近一個月與HIV 陽性伴侶有不安全性行為）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1A1A22"/>
                </a:solidFill>
              </a:rPr>
              <a:t>• 淋病、披衣菌（咽喉、肛門、泌尿道）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40080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77780"/>
                </a:solidFill>
              </a:rPr>
              <a:t>24 / 50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C84033"/>
                </a:solidFill>
              </a:rPr>
              <a:t>定期追蹤 · Monitoring cadence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A1A22"/>
                </a:solidFill>
              </a:rPr>
              <a:t>口服 PrEP 追蹤時程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47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服藥 1 個月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HIV · 肌酐酸 · 尿液分析 · 懷孕 · RPR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服藥 3 個月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HIV · 肌酐酸 · 尿液分析 · 懷孕 · RPR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每 3 個月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HIV · 懷孕 · RPR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每 6 個月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肌酐酸 · 尿液分析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每 1 年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HBsAg · HCV Ab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CAB-LA 長效針劑：每次回診（約 8 週）追 HIV 抗原抗體 + RPR（其他性病依症狀）、懷孕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40080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77780"/>
                </a:solidFill>
              </a:rPr>
              <a:t>25 / 50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C84033"/>
                </a:solidFill>
              </a:rPr>
              <a:t>安全性 · 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A1A22"/>
                </a:solidFill>
              </a:rPr>
              <a:t>三件事要特別留心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47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1A1A22"/>
                </a:solidFill>
              </a:rPr>
              <a:t>腎功能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1A1A22"/>
                </a:solidFill>
              </a:rPr>
              <a:t>骨密度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1A1A22"/>
                </a:solidFill>
              </a:rPr>
              <a:t>B 型肝炎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TDF：可能近端腎小管病變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TDF 可造成輕微骨密度流失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TDF/TAF + FTC 同時抑制 HBV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其他常見：腸胃道（噁心、腹瀉，多在 4 週內緩解）、頭痛、疲倦。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40080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77780"/>
                </a:solidFill>
              </a:rPr>
              <a:t>26 / 50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C84033"/>
                </a:solidFill>
              </a:rPr>
              <a:t>停藥決策 · Discontinuation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A1A22"/>
                </a:solidFill>
              </a:rPr>
              <a:t>什麼時候可以停 PrEP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47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1A1A22"/>
                </a:solidFill>
              </a:rPr>
              <a:t>B 肝帶原者特別注意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停 PrEP 後 6 個月內每月追蹤肝功能，警覺急性肝炎發作；必要時延續抗 B 肝治療。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1A1A22"/>
                </a:solidFill>
              </a:rPr>
              <a:t>• 不再有暴露風險（伴侶關係穩定 + 雙方 HIV 陰性）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1A1A22"/>
                </a:solidFill>
              </a:rPr>
              <a:t>• 計畫懷孕（個案討論後）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1A1A22"/>
                </a:solidFill>
              </a:rPr>
              <a:t>• 嚴重副作用（腎、骨、過敏）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1A1A22"/>
                </a:solidFill>
              </a:rPr>
              <a:t>• 新診斷 HIV 感染 → 立即停 PrEP，轉感染科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1A1A22"/>
                </a:solidFill>
              </a:rPr>
              <a:t>• 個案無法配合追蹤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40080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77780"/>
                </a:solidFill>
              </a:rPr>
              <a:t>27 / 50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C84033"/>
                </a:solidFill>
              </a:rPr>
              <a:t>緊急狀況 · Breakthrough infection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A1A22"/>
                </a:solidFill>
              </a:rPr>
              <a:t>如果用 PrEP 還是感染了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47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單純兩種反轉錄酶抑制劑 → 容易誘發 M184V 抗藥性突變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取得啟動完整治療的依據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啟動三合一以上的全劑量治療，避免抗藥性傳播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強調「U=U」是可達成的目標 —— 治療不是失敗，是新階段的開始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1A1A22"/>
                </a:solidFill>
              </a:rPr>
              <a:t>• 立即停 PrEP（兩種藥不夠治療）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1A1A22"/>
                </a:solidFill>
              </a:rPr>
              <a:t>• 抽血做 HIV 病毒量、抗藥性檢測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1A1A22"/>
                </a:solidFill>
              </a:rPr>
              <a:t>• 立刻轉介感染科 / 愛滋指定醫療院所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1A1A22"/>
                </a:solidFill>
              </a:rPr>
              <a:t>• 諮商與心理支持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40080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77780"/>
                </a:solidFill>
              </a:rPr>
              <a:t>28 / 50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A1A22"/>
                </a:solidFill>
              </a:rPr>
              <a:t>24 §PEP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47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Post-Exposure Prophylaxis · 分秒必爭，把暴露擋在感染之前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40080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77780"/>
                </a:solidFill>
              </a:rPr>
              <a:t>29 / 50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C84033"/>
                </a:solidFill>
              </a:rPr>
              <a:t>定義 · 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A1A22"/>
                </a:solidFill>
              </a:rPr>
              <a:t>PEP · 兩條路、同一個原則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47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1A1A22"/>
                </a:solidFill>
              </a:rPr>
              <a:t>Occupational PEP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1A1A22"/>
                </a:solidFill>
              </a:rPr>
              <a:t>Non-occupational PEP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針扎、銳器傷、體液噴濺到黏膜或破損皮膚。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無套性行為、共用針具、性侵害、輸血意外。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處方原則一樣 · 進入點不同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40080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77780"/>
                </a:solidFill>
              </a:rPr>
              <a:t>30 / 50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C84033"/>
                </a:solidFill>
              </a:rPr>
              <a:t>時間就是保護力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A1A22"/>
                </a:solidFill>
              </a:rPr>
              <a:t>26 黃金 72 小時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47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72 小時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越快越好 · 理想是數小時內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第一句話不是「先抽血」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40080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77780"/>
                </a:solidFill>
              </a:rPr>
              <a:t>31 / 50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C84033"/>
                </a:solidFill>
              </a:rPr>
              <a:t>什麼算暴露 · Exposure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A1A22"/>
                </a:solidFill>
              </a:rPr>
              <a:t>什麼情況才算「暴露」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47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1A1A22"/>
                </a:solidFill>
              </a:rPr>
              <a:t>三種途徑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1A1A22"/>
                </a:solidFill>
              </a:rPr>
              <a:t>具感染性的體液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1A1A22"/>
                </a:solidFill>
              </a:rPr>
              <a:t>不具感染性 （除非肉眼可見血）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血液、精液、陰道分泌物、腦脊髓液、滑囊液、胸水、腹水、羊水、肉眼可見帶血的體液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糞便·鼻腔分泌物·唾液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EACS 2025：黏膜或破損皮膚接觸需大於 15 分鐘才視為有感染風險的暴露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1A1A22"/>
                </a:solidFill>
              </a:rPr>
              <a:t>• 經皮刺傷（針扎、銳器切割）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1A1A22"/>
                </a:solidFill>
              </a:rPr>
              <a:t>• 經黏膜接觸（噴濺到眼、口、鼻）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1A1A22"/>
                </a:solidFill>
              </a:rPr>
              <a:t>• 經破損皮膚接觸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40080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77780"/>
                </a:solidFill>
              </a:rPr>
              <a:t>32 / 50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C84033"/>
                </a:solidFill>
              </a:rPr>
              <a:t>風險 · Per-exposure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A1A22"/>
                </a:solidFill>
              </a:rPr>
              <a:t>每次暴露的感染風險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47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機率不高，但人次累積起來不少 —— 風險計算永遠是「機率 × 暴露次數」。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40080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77780"/>
                </a:solidFill>
              </a:rPr>
              <a:t>33 / 50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C84033"/>
                </a:solidFill>
              </a:rPr>
              <a:t>來源者 · Source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A1A22"/>
                </a:solidFill>
              </a:rPr>
              <a:t>來源者評估三件事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47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30 分鐘內結果 · 空窗期 2 週 · 敏感度 99.5% / 特異度 99.8%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U=U 適用於來源已治療且病毒量壓制的個案；但仍須個別評估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例：原本在用 PrEP 卻新診斷感染 → 處方應用TAF/FTC/DRV/c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關鍵原則：等不到來源者結果，不要延遲 PEP —— 先給藥，後續再決定要不要停。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1A1A22"/>
                </a:solidFill>
              </a:rPr>
              <a:t>• HIV 血清狀態 · 第四代抗原抗體快篩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1A1A22"/>
                </a:solidFill>
              </a:rPr>
              <a:t>• 是否在使用抗病毒藥物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1A1A22"/>
                </a:solidFill>
              </a:rPr>
              <a:t>• 是否疑似抗藥性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40080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77780"/>
                </a:solidFill>
              </a:rPr>
              <a:t>34 / 50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C84033"/>
                </a:solidFill>
              </a:rPr>
              <a:t>處方 · Regimen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A1A22"/>
                </a:solidFill>
              </a:rPr>
              <a:t>2025 年處方建議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47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1A1A22"/>
                </a:solidFill>
              </a:rPr>
              <a:t>TAF/FTC/BIC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1A1A22"/>
                </a:solidFill>
              </a:rPr>
              <a:t>TDF/FTC + DTG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1A1A22"/>
                </a:solidFill>
              </a:rPr>
              <a:t>TAF/FTC/DRV/c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Bictarvy · 單錠複方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Truvada + Tivicay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抗藥屏障較高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2025 改變：取消依風險分層的 2 種或 3 種藥處方 —— 統一 3 種，重點是耐受性與服藥順從性。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40080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77780"/>
                </a:solidFill>
              </a:rPr>
              <a:t>35 / 50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C84033"/>
                </a:solidFill>
              </a:rPr>
              <a:t>療程與追蹤 · Course &amp; follow-up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A1A22"/>
                </a:solidFill>
              </a:rPr>
              <a:t>28 天療程 · 12 週收尾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47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基礎血清採檢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專家諮詢、副作用、調整處方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考慮銜接 PrEP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第四代 HIV 抗原抗體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陰性即可排除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2022 年起國際共識：第四代檢驗已可在 12 週內偵測 —— 不再延長到 6 個月或 9-12 個月。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40080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77780"/>
                </a:solidFill>
              </a:rPr>
              <a:t>36 / 50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C84033"/>
                </a:solidFill>
              </a:rPr>
              <a:t>非職業暴露 · nPEP 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A1A22"/>
                </a:solidFill>
              </a:rPr>
              <a:t>非職業暴露 PEP · 誰適用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47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1A1A22"/>
                </a:solidFill>
              </a:rPr>
              <a:t>無套性行為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1A1A22"/>
                </a:solidFill>
              </a:rPr>
              <a:t>共用針具或稀釋液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1A1A22"/>
                </a:solidFill>
              </a:rPr>
              <a:t>性侵害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1A1A22"/>
                </a:solidFill>
              </a:rPr>
              <a:t>輸血、器官移植意外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1A1A22"/>
                </a:solidFill>
              </a:rPr>
              <a:t>公共場所被棄置針扎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1A1A22"/>
                </a:solidFill>
              </a:rPr>
              <a:t>急性感染症狀的伴侶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特別是接受性肛交、來源 HIV 狀態不明或陽性未治療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注射藥物使用者；針具來源不明的針扎也算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無論加害者 HIV 狀態，72 小時內都應評估給藥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罕見，但風險最高（&gt;90%）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小孔針頭多 · 風險低 · 仍須個案評估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伴侶處於空窗期 → 病毒量極高，風險倍增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40080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77780"/>
                </a:solidFill>
              </a:rPr>
              <a:t>37 / 50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C84033"/>
                </a:solidFill>
              </a:rPr>
              <a:t>決策 · Decision tree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A1A22"/>
                </a:solidFill>
              </a:rPr>
              <a:t>值不值得吃 PEP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47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不確定的時候 —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藥物的代價遠低於錯過 72 小時的代價。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40080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77780"/>
                </a:solidFill>
              </a:rPr>
              <a:t>38 / 50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C84033"/>
                </a:solidFill>
              </a:rPr>
              <a:t>銜接 · Bridging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A1A22"/>
                </a:solidFill>
              </a:rPr>
              <a:t>反覆暴露的個案 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47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28 天 PEP 結束 → 中間不要停 → 直接開始 PrEP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反覆吃 PEP，不是長久之計。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1A1A22"/>
                </a:solidFill>
              </a:rPr>
              <a:t>• 第三版指引明文寫入「PEP-to-PrEP」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1A1A22"/>
                </a:solidFill>
              </a:rPr>
              <a:t>• 不需等到 4-6 週、12 週追蹤完成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1A1A22"/>
                </a:solidFill>
              </a:rPr>
              <a:t>• 但仍須完成所有後續血清追蹤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1A1A22"/>
                </a:solidFill>
              </a:rPr>
              <a:t>• 是個管師與第一線醫護可主動介入的時刻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40080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77780"/>
                </a:solidFill>
              </a:rPr>
              <a:t>39 / 50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C84033"/>
                </a:solidFill>
              </a:rPr>
              <a:t>案件處理 · Case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A1A22"/>
                </a:solidFill>
              </a:rPr>
              <a:t>職業暴露案件處理流程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47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擠壓 · 沖洗 · 消毒 · 不要切開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同步啟動職業暴露通報、勞健保程序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愛滋指定醫事機構 · 1922 針扎專線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急診先給 3 天份 + 同時抽暴露者血清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感染科會診 · 確認/調整/停止用藥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4-6 週、12 週 第四代抗原抗體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1922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疾管署網站 · 職業暴露通報單 + oPEP 血液追蹤紀錄單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人類免疫缺乏病毒傳染防治及感染者權益保障條例 §6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40080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77780"/>
                </a:solidFill>
              </a:rPr>
              <a:t>40 / 50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A1A22"/>
                </a:solidFill>
              </a:rPr>
              <a:t>36 §護理角色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47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不是發藥的人 · 是把人帶進系統的人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40080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77780"/>
                </a:solidFill>
              </a:rPr>
              <a:t>41 / 50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C84033"/>
                </a:solidFill>
              </a:rPr>
              <a:t>為什麼是你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A1A22"/>
                </a:solidFill>
              </a:rPr>
              <a:t>37 第一線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47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個案找你，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40080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77780"/>
                </a:solidFill>
              </a:rPr>
              <a:t>42 / 50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C84033"/>
                </a:solidFill>
              </a:rPr>
              <a:t>諮商 · Counseling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A1A22"/>
                </a:solidFill>
              </a:rPr>
              <a:t>每次諮商都用得上的四個對話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47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1A1A22"/>
                </a:solidFill>
              </a:rPr>
              <a:t>去汙名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1A1A22"/>
                </a:solidFill>
              </a:rPr>
              <a:t>科學事實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1A1A22"/>
                </a:solidFill>
              </a:rPr>
              <a:t>減害選項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1A1A22"/>
                </a:solidFill>
              </a:rPr>
              <a:t>支持系統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「這不是道德問題，是公共衛生問題。」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用「U=U」消除對感染者的恐懼；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給選項，不是給命令。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「你不是一個人。」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40080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77780"/>
                </a:solidFill>
              </a:rPr>
              <a:t>43 / 50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C84033"/>
                </a:solidFill>
              </a:rPr>
              <a:t>行政實務 · Reporting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A1A22"/>
                </a:solidFill>
              </a:rPr>
              <a:t>通報 · 轉介 · 保密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47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1A1A22"/>
                </a:solidFill>
              </a:rPr>
              <a:t>通報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1A1A22"/>
                </a:solidFill>
              </a:rPr>
              <a:t>轉介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1A1A22"/>
                </a:solidFill>
              </a:rPr>
              <a:t>保密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1A1A22"/>
                </a:solidFill>
              </a:rPr>
              <a:t>• HIV：第三類法定傳染病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1A1A22"/>
                </a:solidFill>
              </a:rPr>
              <a:t>• 確診 1 週內通報疾管署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1A1A22"/>
                </a:solidFill>
              </a:rPr>
              <a:t>• 職業暴露另行通報「職業暴露通報單」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1A1A22"/>
                </a:solidFill>
              </a:rPr>
              <a:t>• 性侵害另循家防中心通報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1A1A22"/>
                </a:solidFill>
              </a:rPr>
              <a:t>• 114 家公費 PrEP 機構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1A1A22"/>
                </a:solidFill>
              </a:rPr>
              <a:t>• 愛滋指定醫事機構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1A1A22"/>
                </a:solidFill>
              </a:rPr>
              <a:t>• NGO：露德、權促會、愛之希望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1A1A22"/>
                </a:solidFill>
              </a:rPr>
              <a:t>• 心理諮商與藥癮戒治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1A1A22"/>
                </a:solidFill>
              </a:rPr>
              <a:t>• 未經同意，不得對家屬揭露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1A1A22"/>
                </a:solidFill>
              </a:rPr>
              <a:t>• 檢驗結果應親自面對面告知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1A1A22"/>
                </a:solidFill>
              </a:rPr>
              <a:t>• 病歷加密、申報資料去識別化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1A1A22"/>
                </a:solidFill>
              </a:rPr>
              <a:t>• 違反者依法第 14 條罰責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40080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77780"/>
                </a:solidFill>
              </a:rPr>
              <a:t>44 / 50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C84033"/>
                </a:solidFill>
              </a:rPr>
              <a:t>合作 · Continuum of care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A1A22"/>
                </a:solidFill>
              </a:rPr>
              <a:t>跨領域的接力賽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47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急性暴露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諮商 · 追蹤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PrEP 處方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Outreach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每一棒交接好，個案才不會掉出系統。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40080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77780"/>
                </a:solidFill>
              </a:rPr>
              <a:t>45 / 50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A1A22"/>
                </a:solidFill>
              </a:rPr>
              <a:t>41 §國際 vs 台灣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47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指引寫了不一定落地 · 落地了不一定夠快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40080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77780"/>
                </a:solidFill>
              </a:rPr>
              <a:t>46 / 50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C84033"/>
                </a:solidFill>
              </a:rPr>
              <a:t>前沿 · New molecule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A1A22"/>
                </a:solidFill>
              </a:rPr>
              <a:t>Lenacapavir 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47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1A1A22"/>
                </a:solidFill>
              </a:rPr>
              <a:t>台灣現況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尚未引進 / 尚未列入指引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1A1A22"/>
                </a:solidFill>
              </a:rPr>
              <a:t>• HIV capsid 抑制劑（全新作用機轉）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1A1A22"/>
                </a:solidFill>
              </a:rPr>
              <a:t>• 皮下注射 · 每 6 個月一次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1A1A22"/>
                </a:solidFill>
              </a:rPr>
              <a:t>• PURPOSE-1（撒哈拉非洲女性）：感染率 0/2,134，近乎 100% 保護力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1A1A22"/>
                </a:solidFill>
              </a:rPr>
              <a:t>• PURPOSE-2（MSM/TGW）：較口服 TDF/FTC 顯著優異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1A1A22"/>
                </a:solidFill>
              </a:rPr>
              <a:t>• 美國 FDA 2025/06 核准（商品名 Yeztugo）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1A1A22"/>
                </a:solidFill>
              </a:rPr>
              <a:t>• WHO 2025/07 建議納入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40080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77780"/>
                </a:solidFill>
              </a:rPr>
              <a:t>47 / 50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C84033"/>
                </a:solidFill>
              </a:rPr>
              <a:t>指引 vs 落地 · Guideline vs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A1A22"/>
                </a:solidFill>
              </a:rPr>
              <a:t>三個 差距 等我們補上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47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1A1A22"/>
                </a:solidFill>
              </a:rPr>
              <a:t>CAB-LA 落地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1A1A22"/>
                </a:solidFill>
              </a:rPr>
              <a:t>DoxyPEP 共識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1A1A22"/>
                </a:solidFill>
              </a:rPr>
              <a:t>遠距 / 自主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指引已寫入；實務上引進院所有限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藥價、儲存、注射人力是瓶頸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事後 72 hr 內 doxycycline 200mg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台灣已在臨床使用；待統一適應症與抗藥性監測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家用試劑、telehealth-PrEP、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歐美已陸續落地；台灣可加快腳步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WHO 2024 統合指引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40080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77780"/>
                </a:solidFill>
              </a:rPr>
              <a:t>48 / 50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C84033"/>
                </a:solidFill>
              </a:rPr>
              <a:t>DoxyPEP · 細菌性性病暴露後預防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A1A22"/>
                </a:solidFill>
              </a:rPr>
              <a:t>DoxyPEP 是什麼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47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無套性行為後 72 小時內 口服 doxycycline 200 mg 一次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主要保護目標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標誌性試驗 · LANDMARK TRIALS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DoxyPEP · NEJM 2023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舊金山／西雅圖 MSM 與 TGW 共 501 位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ANRS DOXYVAC · 2024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法國 MSM；梅毒 ↓ 79%、披衣菌 ↓ 89%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dPEP Kenya · JAMA 2023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非洲順性別女性；未顯示保護效益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1A1A22"/>
                </a:solidFill>
              </a:rPr>
              <a:t>• 梅毒 — 強烈一致的下降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1A1A22"/>
                </a:solidFill>
              </a:rPr>
              <a:t>• 披衣菌 — 顯著下降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1A1A22"/>
                </a:solidFill>
              </a:rPr>
              <a:t>• 淋病 — 視四環素抗藥盛行率而異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40080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77780"/>
                </a:solidFill>
              </a:rPr>
              <a:t>49 / 50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C84033"/>
                </a:solidFill>
              </a:rPr>
              <a:t>DoxyPEP · 臨床實務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A1A22"/>
                </a:solidFill>
              </a:rPr>
              <a:t>怎麼用 · 給誰 · 該注意什麼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47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1A1A22"/>
                </a:solidFill>
              </a:rPr>
              <a:t>給誰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1A1A22"/>
                </a:solidFill>
              </a:rPr>
              <a:t>怎麼吃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1A1A22"/>
                </a:solidFill>
              </a:rPr>
              <a:t>注意事項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台灣現況 ：第一線已有醫師處方使用，2025 版梅毒淋病處置共識亦納入相關建議；待全國統一適應症與抗藥性監測機制。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1A1A22"/>
                </a:solidFill>
              </a:rPr>
              <a:t>• 過去一年曾診斷一次以上細菌性性病的 MSM / TGW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1A1A22"/>
                </a:solidFill>
              </a:rPr>
              <a:t>• 反覆暴露或無法穩定使用保險套者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1A1A22"/>
                </a:solidFill>
              </a:rPr>
              <a:t>• 性工作者個別評估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1A1A22"/>
                </a:solidFill>
              </a:rPr>
              <a:t>• 順性別女性目前 證據不足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1A1A22"/>
                </a:solidFill>
              </a:rPr>
              <a:t>• Doxycycline 200 mg 單次口服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1A1A22"/>
                </a:solidFill>
              </a:rPr>
              <a:t>• 性行為後 24–72 小時 內服用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1A1A22"/>
                </a:solidFill>
              </a:rPr>
              <a:t>• 每週上限 200 mg × 3 次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1A1A22"/>
                </a:solidFill>
              </a:rPr>
              <a:t>• 避免與制酸劑、鈣鐵製品同服；服後不躺臥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1A1A22"/>
                </a:solidFill>
              </a:rPr>
              <a:t>• 每 3–6 個月篩檢梅毒、淋病、披衣菌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1A1A22"/>
                </a:solidFill>
              </a:rPr>
              <a:t>• 留意 淋病四環素抗藥性 與腸道菌相影響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1A1A22"/>
                </a:solidFill>
              </a:rPr>
              <a:t>• 光敏感、腸胃不適衛教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1A1A22"/>
                </a:solidFill>
              </a:rPr>
              <a:t>• 不可取代保險套與 PrEP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40080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77780"/>
                </a:solidFill>
              </a:rPr>
              <a:t>50 / 50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A1A22"/>
                </a:solidFill>
              </a:rPr>
              <a:t>46 結語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47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指定醫事機構、1922、學會指引下載連結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第一句話不是先抽血 —— 是「現在幾點？」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這句話可能就是少一個新感染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A4A55"/>
                </a:solidFill>
              </a:rPr>
              <a:t>謝謝大家 · Q &amp; A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1A1A22"/>
                </a:solidFill>
              </a:rPr>
              <a:t>• 把 PrEP / PEP 轉介資訊存在工作群組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1A1A22"/>
                </a:solidFill>
              </a:rPr>
              <a:t>• 記得「黃金 72 小時」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1A1A22"/>
                </a:solidFill>
              </a:rPr>
              <a:t>• PEP 結束問一句：「要不要接 PrEP？」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